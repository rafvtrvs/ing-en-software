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1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jpeg" Type="http://schemas.openxmlformats.org/officeDocument/2006/relationships/image"/><Relationship Id="rId5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7340" y="656060"/>
            <a:ext cx="11253320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GESTIÓN Y CONTROL DE SERVICIOS</a:t>
            </a:r>
          </a:p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GRUPO 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55132" y="2802360"/>
            <a:ext cx="9977737" cy="47625"/>
            <a:chOff x="0" y="0"/>
            <a:chExt cx="2627881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11280" y="8581073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7"/>
                </a:lnTo>
                <a:lnTo>
                  <a:pt x="0" y="1705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35" y="8463017"/>
            <a:ext cx="1738731" cy="1738731"/>
          </a:xfrm>
          <a:custGeom>
            <a:avLst/>
            <a:gdLst/>
            <a:ahLst/>
            <a:cxnLst/>
            <a:rect r="r" b="b" t="t" l="l"/>
            <a:pathLst>
              <a:path h="1738731" w="1738731">
                <a:moveTo>
                  <a:pt x="0" y="0"/>
                </a:moveTo>
                <a:lnTo>
                  <a:pt x="1738730" y="0"/>
                </a:lnTo>
                <a:lnTo>
                  <a:pt x="1738730" y="1738730"/>
                </a:lnTo>
                <a:lnTo>
                  <a:pt x="0" y="173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94958" y="4289053"/>
            <a:ext cx="4498083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Matiás Alejandro Bettancourt Varela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Cristian Maximiliano Bravo Guzmán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Mateo Omar Cortés Medina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Josefa Fernanda Iturra González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Anais Yeray Miranda Torres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Rafael Aníbal Rodríguez Tovar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Vicente Ignacio Vera Pereira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94958" y="7940993"/>
            <a:ext cx="449808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Profesor: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Paulo Luis Francisco Quinsacara Jofré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9652" y="8932545"/>
            <a:ext cx="201004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901" y="3271988"/>
            <a:ext cx="544214" cy="5442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9320" lIns="59320" bIns="59320" rIns="593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4786" y="3366022"/>
            <a:ext cx="330445" cy="330445"/>
          </a:xfrm>
          <a:custGeom>
            <a:avLst/>
            <a:gdLst/>
            <a:ahLst/>
            <a:cxnLst/>
            <a:rect r="r" b="b" t="t" l="l"/>
            <a:pathLst>
              <a:path h="330445" w="330445">
                <a:moveTo>
                  <a:pt x="0" y="0"/>
                </a:moveTo>
                <a:lnTo>
                  <a:pt x="330445" y="0"/>
                </a:lnTo>
                <a:lnTo>
                  <a:pt x="330445" y="330445"/>
                </a:lnTo>
                <a:lnTo>
                  <a:pt x="0" y="33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7901" y="5206851"/>
            <a:ext cx="544214" cy="544214"/>
            <a:chOff x="0" y="0"/>
            <a:chExt cx="725618" cy="72561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7901" y="6510488"/>
            <a:ext cx="544214" cy="544214"/>
            <a:chOff x="0" y="0"/>
            <a:chExt cx="725618" cy="72561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7901" y="8129738"/>
            <a:ext cx="544214" cy="544214"/>
            <a:chOff x="0" y="0"/>
            <a:chExt cx="725618" cy="72561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497275" y="3271988"/>
            <a:ext cx="544214" cy="544214"/>
            <a:chOff x="0" y="0"/>
            <a:chExt cx="725618" cy="72561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497275" y="4891238"/>
            <a:ext cx="544214" cy="544214"/>
            <a:chOff x="0" y="0"/>
            <a:chExt cx="725618" cy="72561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497275" y="6510488"/>
            <a:ext cx="544214" cy="544214"/>
            <a:chOff x="0" y="0"/>
            <a:chExt cx="725618" cy="72561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63226" y="1821902"/>
            <a:ext cx="4208946" cy="85966"/>
            <a:chOff x="0" y="0"/>
            <a:chExt cx="1108529" cy="2264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8529" cy="22641"/>
            </a:xfrm>
            <a:custGeom>
              <a:avLst/>
              <a:gdLst/>
              <a:ahLst/>
              <a:cxnLst/>
              <a:rect r="r" b="b" t="t" l="l"/>
              <a:pathLst>
                <a:path h="22641" w="1108529">
                  <a:moveTo>
                    <a:pt x="0" y="0"/>
                  </a:moveTo>
                  <a:lnTo>
                    <a:pt x="1108529" y="0"/>
                  </a:lnTo>
                  <a:lnTo>
                    <a:pt x="1108529" y="22641"/>
                  </a:lnTo>
                  <a:lnTo>
                    <a:pt x="0" y="2264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08529" cy="60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700" y="811617"/>
            <a:ext cx="864347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ÍNDICE DE CONTENIDOS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50973" y="3290094"/>
            <a:ext cx="426252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 DEL PROYECTO/SOLUCIÓN PROPUESTA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50973" y="5262713"/>
            <a:ext cx="349946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286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850973" y="6528594"/>
            <a:ext cx="222384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16759" y="8143726"/>
            <a:ext cx="336789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 FÍSICO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241514" y="4952851"/>
            <a:ext cx="241448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TRAZABILIDAD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41514" y="6443813"/>
            <a:ext cx="235068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 DE USO N°216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497275" y="8125619"/>
            <a:ext cx="544214" cy="544214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9320" lIns="59320" bIns="59320" rIns="593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7604160" y="8219654"/>
            <a:ext cx="330445" cy="330445"/>
          </a:xfrm>
          <a:custGeom>
            <a:avLst/>
            <a:gdLst/>
            <a:ahLst/>
            <a:cxnLst/>
            <a:rect r="r" b="b" t="t" l="l"/>
            <a:pathLst>
              <a:path h="330445" w="330445">
                <a:moveTo>
                  <a:pt x="0" y="0"/>
                </a:moveTo>
                <a:lnTo>
                  <a:pt x="330445" y="0"/>
                </a:lnTo>
                <a:lnTo>
                  <a:pt x="330445" y="330445"/>
                </a:lnTo>
                <a:lnTo>
                  <a:pt x="0" y="33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8241514" y="3102769"/>
            <a:ext cx="3166046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41514" y="7928769"/>
            <a:ext cx="2045365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SECUENCIAL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79936" y="3321844"/>
            <a:ext cx="228422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982670" y="3271988"/>
            <a:ext cx="544214" cy="544214"/>
            <a:chOff x="0" y="0"/>
            <a:chExt cx="725618" cy="725618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9320" lIns="59320" bIns="59320" rIns="5932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16808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11395" y="2765724"/>
            <a:ext cx="7369527" cy="5603911"/>
          </a:xfrm>
          <a:custGeom>
            <a:avLst/>
            <a:gdLst/>
            <a:ahLst/>
            <a:cxnLst/>
            <a:rect r="r" b="b" t="t" l="l"/>
            <a:pathLst>
              <a:path h="5603911" w="7369527">
                <a:moveTo>
                  <a:pt x="0" y="0"/>
                </a:moveTo>
                <a:lnTo>
                  <a:pt x="7369527" y="0"/>
                </a:lnTo>
                <a:lnTo>
                  <a:pt x="7369527" y="5603912"/>
                </a:lnTo>
                <a:lnTo>
                  <a:pt x="0" y="560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55439"/>
            <a:ext cx="988749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 DEL PROYECTO</a:t>
            </a: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6070" y="3107580"/>
            <a:ext cx="790793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Alcantarillados Camus Ltda. gestiona actualmente gran parte de su información mediante procedimientos manuales y registros dispersos.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 situación dificulta el seguimiento de clientes, órdenes de trabajo, usuarios y recursos operacionales, generando retrasos, errores y una limitada trazabilidad de la información.</a:t>
            </a:r>
          </a:p>
          <a:p>
            <a:pPr algn="l">
              <a:lnSpc>
                <a:spcPts val="21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8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045865"/>
            <a:ext cx="8115300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SOLUCIÓN PROPUESTA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6070" y="6056149"/>
            <a:ext cx="3086100" cy="85998"/>
            <a:chOff x="0" y="0"/>
            <a:chExt cx="812800" cy="22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71985" y="7140773"/>
            <a:ext cx="5478943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Gestionar clientes.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Gestionar usuarios y roles. 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Administrar órdenes de trabajo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Centralizar la información 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Mejorar la trazabilidad de los procesos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9010" y="6294547"/>
            <a:ext cx="6304893" cy="7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20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 SISTEMA DE GESTIÓN Y CONTROL DE SERVICIOS QUE PERMITA: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213506" y="-579228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180"/>
            <a:ext cx="3790693" cy="109484"/>
            <a:chOff x="0" y="0"/>
            <a:chExt cx="998372" cy="28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8372" cy="28835"/>
            </a:xfrm>
            <a:custGeom>
              <a:avLst/>
              <a:gdLst/>
              <a:ahLst/>
              <a:cxnLst/>
              <a:rect r="r" b="b" t="t" l="l"/>
              <a:pathLst>
                <a:path h="28835" w="998372">
                  <a:moveTo>
                    <a:pt x="0" y="0"/>
                  </a:moveTo>
                  <a:lnTo>
                    <a:pt x="998372" y="0"/>
                  </a:lnTo>
                  <a:lnTo>
                    <a:pt x="998372" y="28835"/>
                  </a:lnTo>
                  <a:lnTo>
                    <a:pt x="0" y="2883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98372" cy="66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0600" y="3020401"/>
            <a:ext cx="5602744" cy="4668953"/>
          </a:xfrm>
          <a:custGeom>
            <a:avLst/>
            <a:gdLst/>
            <a:ahLst/>
            <a:cxnLst/>
            <a:rect r="r" b="b" t="t" l="l"/>
            <a:pathLst>
              <a:path h="4668953" w="5602744">
                <a:moveTo>
                  <a:pt x="0" y="0"/>
                </a:moveTo>
                <a:lnTo>
                  <a:pt x="5602743" y="0"/>
                </a:lnTo>
                <a:lnTo>
                  <a:pt x="5602743" y="4668953"/>
                </a:lnTo>
                <a:lnTo>
                  <a:pt x="0" y="4668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5159" y="866775"/>
            <a:ext cx="817680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INCREMENTO I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04713" y="3843151"/>
            <a:ext cx="1184890" cy="205875"/>
          </a:xfrm>
          <a:custGeom>
            <a:avLst/>
            <a:gdLst/>
            <a:ahLst/>
            <a:cxnLst/>
            <a:rect r="r" b="b" t="t" l="l"/>
            <a:pathLst>
              <a:path h="205875" w="1184890">
                <a:moveTo>
                  <a:pt x="0" y="0"/>
                </a:moveTo>
                <a:lnTo>
                  <a:pt x="1184889" y="0"/>
                </a:lnTo>
                <a:lnTo>
                  <a:pt x="1184889" y="205874"/>
                </a:lnTo>
                <a:lnTo>
                  <a:pt x="0" y="2058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04713" y="4854366"/>
            <a:ext cx="1184890" cy="205875"/>
          </a:xfrm>
          <a:custGeom>
            <a:avLst/>
            <a:gdLst/>
            <a:ahLst/>
            <a:cxnLst/>
            <a:rect r="r" b="b" t="t" l="l"/>
            <a:pathLst>
              <a:path h="205875" w="1184890">
                <a:moveTo>
                  <a:pt x="0" y="0"/>
                </a:moveTo>
                <a:lnTo>
                  <a:pt x="1184889" y="0"/>
                </a:lnTo>
                <a:lnTo>
                  <a:pt x="1184889" y="205875"/>
                </a:lnTo>
                <a:lnTo>
                  <a:pt x="0" y="20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29023" y="2648294"/>
            <a:ext cx="282342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DOCUMENTO 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81138" y="2648294"/>
            <a:ext cx="282342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2873902" y="3400100"/>
          <a:ext cx="4258230" cy="2908532"/>
        </p:xfrm>
        <a:graphic>
          <a:graphicData uri="http://schemas.openxmlformats.org/drawingml/2006/table">
            <a:tbl>
              <a:tblPr/>
              <a:tblGrid>
                <a:gridCol w="2841872"/>
              </a:tblGrid>
              <a:tr h="11147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 Requerimientos implementados 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8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 Casos de uso desarrollados 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8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30% del alcance total del proyecto 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7584144" y="3400100"/>
          <a:ext cx="3745649" cy="2049593"/>
        </p:xfrm>
        <a:graphic>
          <a:graphicData uri="http://schemas.openxmlformats.org/drawingml/2006/table">
            <a:tbl>
              <a:tblPr/>
              <a:tblGrid>
                <a:gridCol w="2196514"/>
              </a:tblGrid>
              <a:tr h="11202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70 Requerimientos Funcionales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241 Casos de uso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04124" y="5839332"/>
            <a:ext cx="5098788" cy="3743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380971" y="-579228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3" y="0"/>
                </a:lnTo>
                <a:lnTo>
                  <a:pt x="492983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180"/>
            <a:ext cx="3086100" cy="85998"/>
            <a:chOff x="0" y="0"/>
            <a:chExt cx="812800" cy="22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4835789" y="5556090"/>
            <a:ext cx="6148305" cy="62074"/>
            <a:chOff x="0" y="0"/>
            <a:chExt cx="1619307" cy="163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307" cy="16349"/>
            </a:xfrm>
            <a:custGeom>
              <a:avLst/>
              <a:gdLst/>
              <a:ahLst/>
              <a:cxnLst/>
              <a:rect r="r" b="b" t="t" l="l"/>
              <a:pathLst>
                <a:path h="16349" w="1619307">
                  <a:moveTo>
                    <a:pt x="0" y="0"/>
                  </a:moveTo>
                  <a:lnTo>
                    <a:pt x="1619307" y="0"/>
                  </a:lnTo>
                  <a:lnTo>
                    <a:pt x="1619307" y="16349"/>
                  </a:lnTo>
                  <a:lnTo>
                    <a:pt x="0" y="1634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19307" cy="5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85159" y="866775"/>
            <a:ext cx="881093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595" y="3400304"/>
            <a:ext cx="6874127" cy="438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esta iteración se seleccionaron los requerimientos de mayor prioridad asociados a: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y seguimineto de órdenes de trabajo.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 financiero y generación de reportes.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de maquinaria, tecnicos e insumos.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286"/>
            </a:stretch>
          </a:blipFill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424657" y="4043350"/>
          <a:ext cx="4258230" cy="2693085"/>
        </p:xfrm>
        <a:graphic>
          <a:graphicData uri="http://schemas.openxmlformats.org/drawingml/2006/table">
            <a:tbl>
              <a:tblPr/>
              <a:tblGrid>
                <a:gridCol w="2841872"/>
              </a:tblGrid>
              <a:tr h="8976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 requerimientos desarrollados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6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103 casos de uso desarrollados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6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173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73% del alcance total del proyecto </a:t>
                      </a:r>
                      <a:endParaRPr lang="en-US" sz="1100"/>
                    </a:p>
                  </a:txBody>
                  <a:tcPr marL="165728" marR="165728" marT="165728" marB="165728" anchor="ctr">
                    <a:lnL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314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0800823" y="1655787"/>
            <a:ext cx="282342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II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74958" y="3000385"/>
            <a:ext cx="5899291" cy="4779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33164"/>
            <a:ext cx="5222030" cy="152070"/>
            <a:chOff x="0" y="0"/>
            <a:chExt cx="1375350" cy="400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5349" cy="40051"/>
            </a:xfrm>
            <a:custGeom>
              <a:avLst/>
              <a:gdLst/>
              <a:ahLst/>
              <a:cxnLst/>
              <a:rect r="r" b="b" t="t" l="l"/>
              <a:pathLst>
                <a:path h="40051" w="1375349">
                  <a:moveTo>
                    <a:pt x="0" y="0"/>
                  </a:moveTo>
                  <a:lnTo>
                    <a:pt x="1375349" y="0"/>
                  </a:lnTo>
                  <a:lnTo>
                    <a:pt x="1375349" y="40051"/>
                  </a:lnTo>
                  <a:lnTo>
                    <a:pt x="0" y="4005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5350" cy="78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4343" y="1215886"/>
            <a:ext cx="11122446" cy="7855227"/>
          </a:xfrm>
          <a:custGeom>
            <a:avLst/>
            <a:gdLst/>
            <a:ahLst/>
            <a:cxnLst/>
            <a:rect r="r" b="b" t="t" l="l"/>
            <a:pathLst>
              <a:path h="7855227" w="11122446">
                <a:moveTo>
                  <a:pt x="0" y="0"/>
                </a:moveTo>
                <a:lnTo>
                  <a:pt x="11122445" y="0"/>
                </a:lnTo>
                <a:lnTo>
                  <a:pt x="11122445" y="7855228"/>
                </a:lnTo>
                <a:lnTo>
                  <a:pt x="0" y="7855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8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7725"/>
            <a:ext cx="5913008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BASE DE DATOS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63084"/>
            <a:ext cx="1782068" cy="28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 Físico.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5188" y="-957361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133164"/>
            <a:ext cx="5222030" cy="152070"/>
            <a:chOff x="0" y="0"/>
            <a:chExt cx="1375350" cy="400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349" cy="40051"/>
            </a:xfrm>
            <a:custGeom>
              <a:avLst/>
              <a:gdLst/>
              <a:ahLst/>
              <a:cxnLst/>
              <a:rect r="r" b="b" t="t" l="l"/>
              <a:pathLst>
                <a:path h="40051" w="1375349">
                  <a:moveTo>
                    <a:pt x="0" y="0"/>
                  </a:moveTo>
                  <a:lnTo>
                    <a:pt x="1375349" y="0"/>
                  </a:lnTo>
                  <a:lnTo>
                    <a:pt x="1375349" y="40051"/>
                  </a:lnTo>
                  <a:lnTo>
                    <a:pt x="0" y="4005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5350" cy="78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55379" y="1153650"/>
            <a:ext cx="8142551" cy="7979700"/>
          </a:xfrm>
          <a:custGeom>
            <a:avLst/>
            <a:gdLst/>
            <a:ahLst/>
            <a:cxnLst/>
            <a:rect r="r" b="b" t="t" l="l"/>
            <a:pathLst>
              <a:path h="7979700" w="8142551">
                <a:moveTo>
                  <a:pt x="0" y="0"/>
                </a:moveTo>
                <a:lnTo>
                  <a:pt x="8142552" y="0"/>
                </a:lnTo>
                <a:lnTo>
                  <a:pt x="8142552" y="7979700"/>
                </a:lnTo>
                <a:lnTo>
                  <a:pt x="0" y="7979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7725"/>
            <a:ext cx="5246391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DE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97227"/>
            <a:ext cx="5222030" cy="28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3708" y="1877060"/>
            <a:ext cx="5060585" cy="161925"/>
            <a:chOff x="0" y="0"/>
            <a:chExt cx="1332829" cy="42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2829" cy="42647"/>
            </a:xfrm>
            <a:custGeom>
              <a:avLst/>
              <a:gdLst/>
              <a:ahLst/>
              <a:cxnLst/>
              <a:rect r="r" b="b" t="t" l="l"/>
              <a:pathLst>
                <a:path h="42647" w="1332829">
                  <a:moveTo>
                    <a:pt x="0" y="0"/>
                  </a:moveTo>
                  <a:lnTo>
                    <a:pt x="1332829" y="0"/>
                  </a:lnTo>
                  <a:lnTo>
                    <a:pt x="1332829" y="42647"/>
                  </a:lnTo>
                  <a:lnTo>
                    <a:pt x="0" y="42647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2829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3751653" y="4001428"/>
            <a:ext cx="1590003" cy="276263"/>
          </a:xfrm>
          <a:custGeom>
            <a:avLst/>
            <a:gdLst/>
            <a:ahLst/>
            <a:cxnLst/>
            <a:rect r="r" b="b" t="t" l="l"/>
            <a:pathLst>
              <a:path h="276263" w="1590003">
                <a:moveTo>
                  <a:pt x="0" y="0"/>
                </a:moveTo>
                <a:lnTo>
                  <a:pt x="1590003" y="0"/>
                </a:lnTo>
                <a:lnTo>
                  <a:pt x="1590003" y="276263"/>
                </a:lnTo>
                <a:lnTo>
                  <a:pt x="0" y="27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834796">
            <a:off x="12087229" y="3937249"/>
            <a:ext cx="1543475" cy="268179"/>
          </a:xfrm>
          <a:custGeom>
            <a:avLst/>
            <a:gdLst/>
            <a:ahLst/>
            <a:cxnLst/>
            <a:rect r="r" b="b" t="t" l="l"/>
            <a:pathLst>
              <a:path h="268179" w="1543475">
                <a:moveTo>
                  <a:pt x="0" y="0"/>
                </a:moveTo>
                <a:lnTo>
                  <a:pt x="1543475" y="0"/>
                </a:lnTo>
                <a:lnTo>
                  <a:pt x="1543475" y="268179"/>
                </a:lnTo>
                <a:lnTo>
                  <a:pt x="0" y="268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8061724" y="4060317"/>
            <a:ext cx="1319649" cy="229289"/>
          </a:xfrm>
          <a:custGeom>
            <a:avLst/>
            <a:gdLst/>
            <a:ahLst/>
            <a:cxnLst/>
            <a:rect r="r" b="b" t="t" l="l"/>
            <a:pathLst>
              <a:path h="229289" w="1319649">
                <a:moveTo>
                  <a:pt x="0" y="0"/>
                </a:moveTo>
                <a:lnTo>
                  <a:pt x="1319649" y="0"/>
                </a:lnTo>
                <a:lnTo>
                  <a:pt x="1319649" y="229289"/>
                </a:lnTo>
                <a:lnTo>
                  <a:pt x="0" y="229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3144274" y="5671897"/>
            <a:ext cx="679569" cy="118075"/>
          </a:xfrm>
          <a:custGeom>
            <a:avLst/>
            <a:gdLst/>
            <a:ahLst/>
            <a:cxnLst/>
            <a:rect r="r" b="b" t="t" l="l"/>
            <a:pathLst>
              <a:path h="118075" w="679569">
                <a:moveTo>
                  <a:pt x="0" y="0"/>
                </a:moveTo>
                <a:lnTo>
                  <a:pt x="679569" y="0"/>
                </a:lnTo>
                <a:lnTo>
                  <a:pt x="679569" y="118075"/>
                </a:lnTo>
                <a:lnTo>
                  <a:pt x="0" y="11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3865821" y="5671897"/>
            <a:ext cx="679569" cy="118075"/>
          </a:xfrm>
          <a:custGeom>
            <a:avLst/>
            <a:gdLst/>
            <a:ahLst/>
            <a:cxnLst/>
            <a:rect r="r" b="b" t="t" l="l"/>
            <a:pathLst>
              <a:path h="118075" w="679569">
                <a:moveTo>
                  <a:pt x="0" y="0"/>
                </a:moveTo>
                <a:lnTo>
                  <a:pt x="679569" y="0"/>
                </a:lnTo>
                <a:lnTo>
                  <a:pt x="679569" y="118075"/>
                </a:lnTo>
                <a:lnTo>
                  <a:pt x="0" y="11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8381764" y="5729047"/>
            <a:ext cx="679569" cy="118075"/>
          </a:xfrm>
          <a:custGeom>
            <a:avLst/>
            <a:gdLst/>
            <a:ahLst/>
            <a:cxnLst/>
            <a:rect r="r" b="b" t="t" l="l"/>
            <a:pathLst>
              <a:path h="118075" w="679569">
                <a:moveTo>
                  <a:pt x="0" y="0"/>
                </a:moveTo>
                <a:lnTo>
                  <a:pt x="679569" y="0"/>
                </a:lnTo>
                <a:lnTo>
                  <a:pt x="679569" y="118075"/>
                </a:lnTo>
                <a:lnTo>
                  <a:pt x="0" y="11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78539" y="6165969"/>
            <a:ext cx="2611039" cy="3869085"/>
          </a:xfrm>
          <a:custGeom>
            <a:avLst/>
            <a:gdLst/>
            <a:ahLst/>
            <a:cxnLst/>
            <a:rect r="r" b="b" t="t" l="l"/>
            <a:pathLst>
              <a:path h="3869085" w="2611039">
                <a:moveTo>
                  <a:pt x="0" y="0"/>
                </a:moveTo>
                <a:lnTo>
                  <a:pt x="2611039" y="0"/>
                </a:lnTo>
                <a:lnTo>
                  <a:pt x="2611039" y="3869085"/>
                </a:lnTo>
                <a:lnTo>
                  <a:pt x="0" y="38690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38922" y="6185019"/>
            <a:ext cx="2975027" cy="3850035"/>
          </a:xfrm>
          <a:custGeom>
            <a:avLst/>
            <a:gdLst/>
            <a:ahLst/>
            <a:cxnLst/>
            <a:rect r="r" b="b" t="t" l="l"/>
            <a:pathLst>
              <a:path h="3850035" w="2975027">
                <a:moveTo>
                  <a:pt x="0" y="0"/>
                </a:moveTo>
                <a:lnTo>
                  <a:pt x="2975027" y="0"/>
                </a:lnTo>
                <a:lnTo>
                  <a:pt x="2975027" y="3850035"/>
                </a:lnTo>
                <a:lnTo>
                  <a:pt x="0" y="385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59442" y="6242169"/>
            <a:ext cx="3092328" cy="3721988"/>
          </a:xfrm>
          <a:custGeom>
            <a:avLst/>
            <a:gdLst/>
            <a:ahLst/>
            <a:cxnLst/>
            <a:rect r="r" b="b" t="t" l="l"/>
            <a:pathLst>
              <a:path h="3721988" w="3092328">
                <a:moveTo>
                  <a:pt x="0" y="0"/>
                </a:moveTo>
                <a:lnTo>
                  <a:pt x="3092328" y="0"/>
                </a:lnTo>
                <a:lnTo>
                  <a:pt x="3092328" y="3721988"/>
                </a:lnTo>
                <a:lnTo>
                  <a:pt x="0" y="37219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46978" y="866775"/>
            <a:ext cx="4794045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TRAZABILIDAD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5437" y="2475637"/>
            <a:ext cx="997920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Requerimiento Funcional N°63: 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sistema deberá permitir aprobar formalmente una orden de trabajo una vez finalizado el servicio.</a:t>
            </a:r>
          </a:p>
          <a:p>
            <a:pPr algn="l">
              <a:lnSpc>
                <a:spcPts val="21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254396" y="4848225"/>
            <a:ext cx="313988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N°216: Aprobando orden de trabajo finalizada.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38922" y="4848225"/>
            <a:ext cx="346529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N°217: Revisando antecedentes de la orden.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8865" y="4848225"/>
            <a:ext cx="38315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N°218: Registrando aprobación de orden de trabajo.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4086" y="2007167"/>
            <a:ext cx="309210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Tabla caso de uso N°216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3697" y="2365943"/>
            <a:ext cx="5012887" cy="7428188"/>
          </a:xfrm>
          <a:custGeom>
            <a:avLst/>
            <a:gdLst/>
            <a:ahLst/>
            <a:cxnLst/>
            <a:rect r="r" b="b" t="t" l="l"/>
            <a:pathLst>
              <a:path h="7428188" w="5012887">
                <a:moveTo>
                  <a:pt x="0" y="0"/>
                </a:moveTo>
                <a:lnTo>
                  <a:pt x="5012887" y="0"/>
                </a:lnTo>
                <a:lnTo>
                  <a:pt x="5012887" y="7428187"/>
                </a:lnTo>
                <a:lnTo>
                  <a:pt x="0" y="742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72578" y="3039563"/>
            <a:ext cx="10434577" cy="5466178"/>
          </a:xfrm>
          <a:custGeom>
            <a:avLst/>
            <a:gdLst/>
            <a:ahLst/>
            <a:cxnLst/>
            <a:rect r="r" b="b" t="t" l="l"/>
            <a:pathLst>
              <a:path h="5466178" w="10434577">
                <a:moveTo>
                  <a:pt x="0" y="0"/>
                </a:moveTo>
                <a:lnTo>
                  <a:pt x="10434577" y="0"/>
                </a:lnTo>
                <a:lnTo>
                  <a:pt x="10434577" y="5466178"/>
                </a:lnTo>
                <a:lnTo>
                  <a:pt x="0" y="5466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41808" y="337986"/>
            <a:ext cx="8784466" cy="128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77"/>
              </a:lnSpc>
              <a:spcBef>
                <a:spcPct val="0"/>
              </a:spcBef>
            </a:pPr>
            <a:r>
              <a:rPr lang="en-US" sz="362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N°216: APROBANDO ORDEN DE TRABAJO FINALIZADA.</a:t>
            </a:r>
            <a:r>
              <a:rPr lang="en-US" sz="362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89866" y="1856355"/>
            <a:ext cx="353835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caso de uso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27945"/>
            <a:ext cx="4439539" cy="161925"/>
            <a:chOff x="0" y="0"/>
            <a:chExt cx="1169261" cy="42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9261" cy="42647"/>
            </a:xfrm>
            <a:custGeom>
              <a:avLst/>
              <a:gdLst/>
              <a:ahLst/>
              <a:cxnLst/>
              <a:rect r="r" b="b" t="t" l="l"/>
              <a:pathLst>
                <a:path h="42647" w="1169261">
                  <a:moveTo>
                    <a:pt x="0" y="0"/>
                  </a:moveTo>
                  <a:lnTo>
                    <a:pt x="1169261" y="0"/>
                  </a:lnTo>
                  <a:lnTo>
                    <a:pt x="1169261" y="42647"/>
                  </a:lnTo>
                  <a:lnTo>
                    <a:pt x="0" y="42647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9261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6131" y="784156"/>
            <a:ext cx="8575149" cy="8718688"/>
          </a:xfrm>
          <a:custGeom>
            <a:avLst/>
            <a:gdLst/>
            <a:ahLst/>
            <a:cxnLst/>
            <a:rect r="r" b="b" t="t" l="l"/>
            <a:pathLst>
              <a:path h="8718688" w="8575149">
                <a:moveTo>
                  <a:pt x="0" y="0"/>
                </a:moveTo>
                <a:lnTo>
                  <a:pt x="8575149" y="0"/>
                </a:lnTo>
                <a:lnTo>
                  <a:pt x="8575149" y="8718688"/>
                </a:lnTo>
                <a:lnTo>
                  <a:pt x="0" y="8718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66775"/>
            <a:ext cx="6657181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RELEVANTES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73923"/>
            <a:ext cx="5604788" cy="85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secuencia CU N°216- Aprobando orden de trabajo finalizada</a:t>
            </a:r>
          </a:p>
          <a:p>
            <a:pPr algn="l">
              <a:lnSpc>
                <a:spcPts val="227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3813" y="308551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58495" y="3533774"/>
            <a:ext cx="6498688" cy="314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81" indent="-32384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implementó el 73% de los requerimientos funcionales </a:t>
            </a:r>
          </a:p>
          <a:p>
            <a:pPr algn="just" marL="647681" indent="-32384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integro las funcionalidades para la gestión de órdenes de trabajo, recursos, servicios, resportes entre otros.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7387" y="5862932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86973" y="3736998"/>
            <a:ext cx="8236234" cy="6672169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803752" y="1451456"/>
            <a:ext cx="7194349" cy="1368095"/>
            <a:chOff x="0" y="0"/>
            <a:chExt cx="9592465" cy="18241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38125"/>
              <a:ext cx="9592465" cy="1859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CONCLUSIÓN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1621366"/>
              <a:ext cx="8317387" cy="202760"/>
              <a:chOff x="0" y="0"/>
              <a:chExt cx="1642941" cy="4005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42941" cy="40051"/>
              </a:xfrm>
              <a:custGeom>
                <a:avLst/>
                <a:gdLst/>
                <a:ahLst/>
                <a:cxnLst/>
                <a:rect r="r" b="b" t="t" l="l"/>
                <a:pathLst>
                  <a:path h="40051" w="1642941">
                    <a:moveTo>
                      <a:pt x="0" y="0"/>
                    </a:moveTo>
                    <a:lnTo>
                      <a:pt x="1642941" y="0"/>
                    </a:lnTo>
                    <a:lnTo>
                      <a:pt x="1642941" y="40051"/>
                    </a:lnTo>
                    <a:lnTo>
                      <a:pt x="0" y="40051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642941" cy="78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77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7588" y="4905375"/>
            <a:ext cx="12672824" cy="145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¡MUCHAS 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18693" y="1223652"/>
            <a:ext cx="3850613" cy="3017782"/>
          </a:xfrm>
          <a:custGeom>
            <a:avLst/>
            <a:gdLst/>
            <a:ahLst/>
            <a:cxnLst/>
            <a:rect r="r" b="b" t="t" l="l"/>
            <a:pathLst>
              <a:path h="3017782" w="3850613">
                <a:moveTo>
                  <a:pt x="0" y="0"/>
                </a:moveTo>
                <a:lnTo>
                  <a:pt x="3850614" y="0"/>
                </a:lnTo>
                <a:lnTo>
                  <a:pt x="3850614" y="3017782"/>
                </a:lnTo>
                <a:lnTo>
                  <a:pt x="0" y="3017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DAHMmjWFHN8</dc:identifier>
  <dcterms:modified xsi:type="dcterms:W3CDTF">2011-08-01T06:04:30Z</dcterms:modified>
  <cp:revision>1</cp:revision>
  <dc:title>Presentación II Grupo 21</dc:title>
</cp:coreProperties>
</file>