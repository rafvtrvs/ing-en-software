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Poppins Bold" charset="1" panose="00000800000000000000"/>
      <p:regular r:id="rId19"/>
    </p:embeddedFont>
    <p:embeddedFont>
      <p:font typeface="Poppins" charset="1" panose="000005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1.pn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jpeg" Type="http://schemas.openxmlformats.org/officeDocument/2006/relationships/image"/><Relationship Id="rId5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svg" Type="http://schemas.openxmlformats.org/officeDocument/2006/relationships/image"/><Relationship Id="rId4" Target="../media/image18.jpeg" Type="http://schemas.openxmlformats.org/officeDocument/2006/relationships/image"/><Relationship Id="rId5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Relationship Id="rId7" Target="../media/image2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6.png" Type="http://schemas.openxmlformats.org/officeDocument/2006/relationships/image"/><Relationship Id="rId5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517340" y="656060"/>
            <a:ext cx="11253320" cy="306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GESTIÓN Y CONTROL DE SERVICIOS</a:t>
            </a:r>
          </a:p>
          <a:p>
            <a:pPr algn="ctr">
              <a:lnSpc>
                <a:spcPts val="7000"/>
              </a:lnSpc>
            </a:pPr>
            <a:r>
              <a:rPr lang="en-US" b="true" sz="5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GRUPO 21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155132" y="2802360"/>
            <a:ext cx="9977737" cy="47625"/>
            <a:chOff x="0" y="0"/>
            <a:chExt cx="2627881" cy="1254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27881" cy="12543"/>
            </a:xfrm>
            <a:custGeom>
              <a:avLst/>
              <a:gdLst/>
              <a:ahLst/>
              <a:cxnLst/>
              <a:rect r="r" b="b" t="t" l="l"/>
              <a:pathLst>
                <a:path h="12543" w="2627881">
                  <a:moveTo>
                    <a:pt x="0" y="0"/>
                  </a:moveTo>
                  <a:lnTo>
                    <a:pt x="2627881" y="0"/>
                  </a:lnTo>
                  <a:lnTo>
                    <a:pt x="2627881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627881" cy="696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6111280" y="8581073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7"/>
                </a:lnTo>
                <a:lnTo>
                  <a:pt x="0" y="17059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286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9335" y="8463017"/>
            <a:ext cx="1738731" cy="1738731"/>
          </a:xfrm>
          <a:custGeom>
            <a:avLst/>
            <a:gdLst/>
            <a:ahLst/>
            <a:cxnLst/>
            <a:rect r="r" b="b" t="t" l="l"/>
            <a:pathLst>
              <a:path h="1738731" w="1738731">
                <a:moveTo>
                  <a:pt x="0" y="0"/>
                </a:moveTo>
                <a:lnTo>
                  <a:pt x="1738730" y="0"/>
                </a:lnTo>
                <a:lnTo>
                  <a:pt x="1738730" y="1738730"/>
                </a:lnTo>
                <a:lnTo>
                  <a:pt x="0" y="173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894958" y="4289053"/>
            <a:ext cx="4498083" cy="2526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Integrantes: 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Matiás Alejandro Bettancourt Varela 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Cristian Maximiliano Bravo Guzmán 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Mateo Omar Cortés Medina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Josefa Fernanda Iturra González 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Anais Yeray Miranda Torres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Rafael Aníbal Rodríguez Tovar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Vicente Ignacio Vera Pereira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894958" y="7940993"/>
            <a:ext cx="4498083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Profesor: </a:t>
            </a:r>
          </a:p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Paulo Luis Francisco Quinsacara Jofré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999652" y="8932545"/>
            <a:ext cx="201004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Junio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07901" y="3271988"/>
            <a:ext cx="544214" cy="544214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9320" lIns="59320" bIns="59320" rIns="5932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14786" y="3366022"/>
            <a:ext cx="330445" cy="330445"/>
          </a:xfrm>
          <a:custGeom>
            <a:avLst/>
            <a:gdLst/>
            <a:ahLst/>
            <a:cxnLst/>
            <a:rect r="r" b="b" t="t" l="l"/>
            <a:pathLst>
              <a:path h="330445" w="330445">
                <a:moveTo>
                  <a:pt x="0" y="0"/>
                </a:moveTo>
                <a:lnTo>
                  <a:pt x="330445" y="0"/>
                </a:lnTo>
                <a:lnTo>
                  <a:pt x="330445" y="330445"/>
                </a:lnTo>
                <a:lnTo>
                  <a:pt x="0" y="3304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107901" y="5206851"/>
            <a:ext cx="544214" cy="544214"/>
            <a:chOff x="0" y="0"/>
            <a:chExt cx="725618" cy="725618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107901" y="6510488"/>
            <a:ext cx="544214" cy="544214"/>
            <a:chOff x="0" y="0"/>
            <a:chExt cx="725618" cy="725618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5" id="15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07901" y="8129738"/>
            <a:ext cx="544214" cy="544214"/>
            <a:chOff x="0" y="0"/>
            <a:chExt cx="725618" cy="72561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497275" y="3271988"/>
            <a:ext cx="544214" cy="544214"/>
            <a:chOff x="0" y="0"/>
            <a:chExt cx="725618" cy="725618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5" id="25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497275" y="4891238"/>
            <a:ext cx="544214" cy="544214"/>
            <a:chOff x="0" y="0"/>
            <a:chExt cx="725618" cy="725618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30" id="30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7497275" y="6510488"/>
            <a:ext cx="544214" cy="544214"/>
            <a:chOff x="0" y="0"/>
            <a:chExt cx="725618" cy="725618"/>
          </a:xfrm>
        </p:grpSpPr>
        <p:grpSp>
          <p:nvGrpSpPr>
            <p:cNvPr name="Group 32" id="32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35" id="35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5463226" y="1821902"/>
            <a:ext cx="4208946" cy="85966"/>
            <a:chOff x="0" y="0"/>
            <a:chExt cx="1108529" cy="2264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8529" cy="22641"/>
            </a:xfrm>
            <a:custGeom>
              <a:avLst/>
              <a:gdLst/>
              <a:ahLst/>
              <a:cxnLst/>
              <a:rect r="r" b="b" t="t" l="l"/>
              <a:pathLst>
                <a:path h="22641" w="1108529">
                  <a:moveTo>
                    <a:pt x="0" y="0"/>
                  </a:moveTo>
                  <a:lnTo>
                    <a:pt x="1108529" y="0"/>
                  </a:lnTo>
                  <a:lnTo>
                    <a:pt x="1108529" y="22641"/>
                  </a:lnTo>
                  <a:lnTo>
                    <a:pt x="0" y="22641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108529" cy="607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28700" y="811617"/>
            <a:ext cx="8643472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ÍNDICE DE CONTENIDOS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850973" y="3290094"/>
            <a:ext cx="4262527" cy="1317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CONTEXTO DEL PROYECTO/SOLUCIÓN PROPUESTA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850973" y="5262713"/>
            <a:ext cx="3499463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DOCUMENTO 0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7286"/>
            </a:stretch>
          </a:blipFill>
        </p:spPr>
      </p:sp>
      <p:sp>
        <p:nvSpPr>
          <p:cNvPr name="TextBox 43" id="43"/>
          <p:cNvSpPr txBox="true"/>
          <p:nvPr/>
        </p:nvSpPr>
        <p:spPr>
          <a:xfrm rot="0">
            <a:off x="1850973" y="6528594"/>
            <a:ext cx="2145804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INCREMENTO I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916759" y="8143726"/>
            <a:ext cx="336789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MODELO FÍSICO 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8346289" y="3102769"/>
            <a:ext cx="3166046" cy="879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DIAGRAMA DE COMPONENTES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346289" y="6528594"/>
            <a:ext cx="3166046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TRAZABILIDAD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7497275" y="7995444"/>
            <a:ext cx="2669407" cy="812800"/>
            <a:chOff x="0" y="0"/>
            <a:chExt cx="3559209" cy="1083733"/>
          </a:xfrm>
        </p:grpSpPr>
        <p:sp>
          <p:nvSpPr>
            <p:cNvPr name="TextBox 48" id="48"/>
            <p:cNvSpPr txBox="true"/>
            <p:nvPr/>
          </p:nvSpPr>
          <p:spPr>
            <a:xfrm rot="0">
              <a:off x="832056" y="-66675"/>
              <a:ext cx="2727153" cy="11504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CASO DE USO N°22</a:t>
              </a:r>
            </a:p>
          </p:txBody>
        </p:sp>
        <p:grpSp>
          <p:nvGrpSpPr>
            <p:cNvPr name="Group 49" id="49"/>
            <p:cNvGrpSpPr/>
            <p:nvPr/>
          </p:nvGrpSpPr>
          <p:grpSpPr>
            <a:xfrm rot="0">
              <a:off x="0" y="173567"/>
              <a:ext cx="725618" cy="725618"/>
              <a:chOff x="0" y="0"/>
              <a:chExt cx="812800" cy="8128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52" id="52"/>
            <p:cNvSpPr/>
            <p:nvPr/>
          </p:nvSpPr>
          <p:spPr>
            <a:xfrm flipH="false" flipV="false" rot="0">
              <a:off x="142513" y="298946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3"/>
                  </a:lnTo>
                  <a:lnTo>
                    <a:pt x="0" y="4405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8346289" y="4733776"/>
            <a:ext cx="3166046" cy="879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DIAGRAMA DE DESPLIEGUE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700658" y="3102769"/>
            <a:ext cx="2045365" cy="879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DIAGRAMA SECUENCIAL 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76616" y="3299619"/>
            <a:ext cx="544214" cy="544214"/>
            <a:chOff x="0" y="0"/>
            <a:chExt cx="812800" cy="8128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57" id="5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9320" lIns="59320" bIns="59320" rIns="5932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8" id="58"/>
          <p:cNvSpPr/>
          <p:nvPr/>
        </p:nvSpPr>
        <p:spPr>
          <a:xfrm flipH="false" flipV="false" rot="0">
            <a:off x="12183500" y="3393654"/>
            <a:ext cx="330445" cy="330445"/>
          </a:xfrm>
          <a:custGeom>
            <a:avLst/>
            <a:gdLst/>
            <a:ahLst/>
            <a:cxnLst/>
            <a:rect r="r" b="b" t="t" l="l"/>
            <a:pathLst>
              <a:path h="330445" w="330445">
                <a:moveTo>
                  <a:pt x="0" y="0"/>
                </a:moveTo>
                <a:lnTo>
                  <a:pt x="330445" y="0"/>
                </a:lnTo>
                <a:lnTo>
                  <a:pt x="330445" y="330445"/>
                </a:lnTo>
                <a:lnTo>
                  <a:pt x="0" y="3304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9" id="59"/>
          <p:cNvGrpSpPr/>
          <p:nvPr/>
        </p:nvGrpSpPr>
        <p:grpSpPr>
          <a:xfrm rot="0">
            <a:off x="12076616" y="4972499"/>
            <a:ext cx="3028467" cy="544214"/>
            <a:chOff x="0" y="0"/>
            <a:chExt cx="4037956" cy="725618"/>
          </a:xfrm>
        </p:grpSpPr>
        <p:sp>
          <p:nvSpPr>
            <p:cNvPr name="TextBox 60" id="60"/>
            <p:cNvSpPr txBox="true"/>
            <p:nvPr/>
          </p:nvSpPr>
          <p:spPr>
            <a:xfrm rot="0">
              <a:off x="992318" y="29234"/>
              <a:ext cx="3045638" cy="5662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CONCLUSIÓN</a:t>
              </a:r>
            </a:p>
          </p:txBody>
        </p:sp>
        <p:grpSp>
          <p:nvGrpSpPr>
            <p:cNvPr name="Group 61" id="61"/>
            <p:cNvGrpSpPr/>
            <p:nvPr/>
          </p:nvGrpSpPr>
          <p:grpSpPr>
            <a:xfrm rot="0">
              <a:off x="0" y="0"/>
              <a:ext cx="725618" cy="725618"/>
              <a:chOff x="0" y="0"/>
              <a:chExt cx="812800" cy="812800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63" id="63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9320" lIns="59320" bIns="59320" rIns="5932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64" id="64"/>
            <p:cNvSpPr/>
            <p:nvPr/>
          </p:nvSpPr>
          <p:spPr>
            <a:xfrm flipH="false" flipV="false" rot="0">
              <a:off x="142513" y="125380"/>
              <a:ext cx="440593" cy="440593"/>
            </a:xfrm>
            <a:custGeom>
              <a:avLst/>
              <a:gdLst/>
              <a:ahLst/>
              <a:cxnLst/>
              <a:rect r="r" b="b" t="t" l="l"/>
              <a:pathLst>
                <a:path h="440593" w="440593">
                  <a:moveTo>
                    <a:pt x="0" y="0"/>
                  </a:moveTo>
                  <a:lnTo>
                    <a:pt x="440592" y="0"/>
                  </a:lnTo>
                  <a:lnTo>
                    <a:pt x="440592" y="440592"/>
                  </a:lnTo>
                  <a:lnTo>
                    <a:pt x="0" y="44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916808"/>
            <a:ext cx="3086100" cy="85998"/>
            <a:chOff x="0" y="0"/>
            <a:chExt cx="812800" cy="226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2650"/>
            </a:xfrm>
            <a:custGeom>
              <a:avLst/>
              <a:gdLst/>
              <a:ahLst/>
              <a:cxnLst/>
              <a:rect r="r" b="b" t="t" l="l"/>
              <a:pathLst>
                <a:path h="2265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2650"/>
                  </a:lnTo>
                  <a:lnTo>
                    <a:pt x="0" y="22650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60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411395" y="2765724"/>
            <a:ext cx="7369527" cy="5603911"/>
          </a:xfrm>
          <a:custGeom>
            <a:avLst/>
            <a:gdLst/>
            <a:ahLst/>
            <a:cxnLst/>
            <a:rect r="r" b="b" t="t" l="l"/>
            <a:pathLst>
              <a:path h="5603911" w="7369527">
                <a:moveTo>
                  <a:pt x="0" y="0"/>
                </a:moveTo>
                <a:lnTo>
                  <a:pt x="7369527" y="0"/>
                </a:lnTo>
                <a:lnTo>
                  <a:pt x="7369527" y="5603912"/>
                </a:lnTo>
                <a:lnTo>
                  <a:pt x="0" y="56039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755439"/>
            <a:ext cx="9887493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CONTEXTO DEL PROYECTO</a:t>
            </a: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36070" y="3107580"/>
            <a:ext cx="7907930" cy="1876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Alcantarillados Camus Ltda. gestiona actualmente gran parte de su información mediante procedimientos manuales y registros dispersos.</a:t>
            </a:r>
          </a:p>
          <a:p>
            <a:pPr algn="l">
              <a:lnSpc>
                <a:spcPts val="2100"/>
              </a:lnSpc>
            </a:pPr>
          </a:p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Esta situación dificulta el seguimiento de clientes, órdenes de trabajo, usuarios y recursos operacionales, generando retrasos, errores y una limitada trazabilidad de la información.</a:t>
            </a:r>
          </a:p>
          <a:p>
            <a:pPr algn="l">
              <a:lnSpc>
                <a:spcPts val="2100"/>
              </a:lnSpc>
            </a:pP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7286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5045865"/>
            <a:ext cx="8115300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SOLUCIÓN PROPUESTA 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236070" y="6056149"/>
            <a:ext cx="3086100" cy="85998"/>
            <a:chOff x="0" y="0"/>
            <a:chExt cx="812800" cy="226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22650"/>
            </a:xfrm>
            <a:custGeom>
              <a:avLst/>
              <a:gdLst/>
              <a:ahLst/>
              <a:cxnLst/>
              <a:rect r="r" b="b" t="t" l="l"/>
              <a:pathLst>
                <a:path h="2265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2650"/>
                  </a:lnTo>
                  <a:lnTo>
                    <a:pt x="0" y="22650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60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871985" y="7140773"/>
            <a:ext cx="5478943" cy="1343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3850" indent="-161925" lvl="1">
              <a:lnSpc>
                <a:spcPts val="2100"/>
              </a:lnSpc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Gestionar clientes.</a:t>
            </a:r>
          </a:p>
          <a:p>
            <a:pPr algn="l" marL="323850" indent="-161925" lvl="1">
              <a:lnSpc>
                <a:spcPts val="2100"/>
              </a:lnSpc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Gestionar usuarios y roles. </a:t>
            </a:r>
          </a:p>
          <a:p>
            <a:pPr algn="l" marL="323850" indent="-161925" lvl="1">
              <a:lnSpc>
                <a:spcPts val="2100"/>
              </a:lnSpc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Administrar órdenes de trabajo</a:t>
            </a:r>
          </a:p>
          <a:p>
            <a:pPr algn="l" marL="323850" indent="-161925" lvl="1">
              <a:lnSpc>
                <a:spcPts val="2100"/>
              </a:lnSpc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Centralizar la información </a:t>
            </a:r>
          </a:p>
          <a:p>
            <a:pPr algn="l" marL="323850" indent="-161925" lvl="1">
              <a:lnSpc>
                <a:spcPts val="2100"/>
              </a:lnSpc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Mejorar la trazabilidad de los procesos 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59010" y="6294547"/>
            <a:ext cx="6304893" cy="741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7"/>
              </a:lnSpc>
            </a:pPr>
            <a:r>
              <a:rPr lang="en-US" sz="20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DESARROLLAR UN SISTEMA DE GESTIÓN Y CONTROL DE SERVICIOS QUE PERMITA: 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16213506" y="-579228"/>
            <a:ext cx="492984" cy="2279693"/>
          </a:xfrm>
          <a:custGeom>
            <a:avLst/>
            <a:gdLst/>
            <a:ahLst/>
            <a:cxnLst/>
            <a:rect r="r" b="b" t="t" l="l"/>
            <a:pathLst>
              <a:path h="2279693" w="492984">
                <a:moveTo>
                  <a:pt x="0" y="0"/>
                </a:moveTo>
                <a:lnTo>
                  <a:pt x="492984" y="0"/>
                </a:lnTo>
                <a:lnTo>
                  <a:pt x="492984" y="2279693"/>
                </a:lnTo>
                <a:lnTo>
                  <a:pt x="0" y="22796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1948180"/>
            <a:ext cx="3086100" cy="85998"/>
            <a:chOff x="0" y="0"/>
            <a:chExt cx="812800" cy="226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22650"/>
            </a:xfrm>
            <a:custGeom>
              <a:avLst/>
              <a:gdLst/>
              <a:ahLst/>
              <a:cxnLst/>
              <a:rect r="r" b="b" t="t" l="l"/>
              <a:pathLst>
                <a:path h="2265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2650"/>
                  </a:lnTo>
                  <a:lnTo>
                    <a:pt x="0" y="22650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812800" cy="60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5786369" y="5431534"/>
            <a:ext cx="6148305" cy="62074"/>
            <a:chOff x="0" y="0"/>
            <a:chExt cx="1619307" cy="163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19307" cy="16349"/>
            </a:xfrm>
            <a:custGeom>
              <a:avLst/>
              <a:gdLst/>
              <a:ahLst/>
              <a:cxnLst/>
              <a:rect r="r" b="b" t="t" l="l"/>
              <a:pathLst>
                <a:path h="16349" w="1619307">
                  <a:moveTo>
                    <a:pt x="0" y="0"/>
                  </a:moveTo>
                  <a:lnTo>
                    <a:pt x="1619307" y="0"/>
                  </a:lnTo>
                  <a:lnTo>
                    <a:pt x="1619307" y="16349"/>
                  </a:lnTo>
                  <a:lnTo>
                    <a:pt x="0" y="16349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19307" cy="544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0597926" y="2809024"/>
            <a:ext cx="5602744" cy="4668953"/>
          </a:xfrm>
          <a:custGeom>
            <a:avLst/>
            <a:gdLst/>
            <a:ahLst/>
            <a:cxnLst/>
            <a:rect r="r" b="b" t="t" l="l"/>
            <a:pathLst>
              <a:path h="4668953" w="5602744">
                <a:moveTo>
                  <a:pt x="0" y="0"/>
                </a:moveTo>
                <a:lnTo>
                  <a:pt x="5602744" y="0"/>
                </a:lnTo>
                <a:lnTo>
                  <a:pt x="5602744" y="4668952"/>
                </a:lnTo>
                <a:lnTo>
                  <a:pt x="0" y="46689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85159" y="866775"/>
            <a:ext cx="8810937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DOCUMENTO 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78614" y="4365756"/>
            <a:ext cx="5764312" cy="2632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Requerimientos funcionales y no funcionales 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Diagramas de casos de uso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Matriz de trazabilidad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Objetivos del proyecto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Contexto organizacional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78614" y="2552718"/>
            <a:ext cx="3594082" cy="1493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PRINCIPALES RESULTADOS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7286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16380971" y="-579228"/>
            <a:ext cx="492984" cy="2279693"/>
          </a:xfrm>
          <a:custGeom>
            <a:avLst/>
            <a:gdLst/>
            <a:ahLst/>
            <a:cxnLst/>
            <a:rect r="r" b="b" t="t" l="l"/>
            <a:pathLst>
              <a:path h="2279693" w="492984">
                <a:moveTo>
                  <a:pt x="0" y="0"/>
                </a:moveTo>
                <a:lnTo>
                  <a:pt x="492983" y="0"/>
                </a:lnTo>
                <a:lnTo>
                  <a:pt x="492983" y="2279693"/>
                </a:lnTo>
                <a:lnTo>
                  <a:pt x="0" y="22796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1948180"/>
            <a:ext cx="3086100" cy="85998"/>
            <a:chOff x="0" y="0"/>
            <a:chExt cx="812800" cy="226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22650"/>
            </a:xfrm>
            <a:custGeom>
              <a:avLst/>
              <a:gdLst/>
              <a:ahLst/>
              <a:cxnLst/>
              <a:rect r="r" b="b" t="t" l="l"/>
              <a:pathLst>
                <a:path h="2265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2650"/>
                  </a:lnTo>
                  <a:lnTo>
                    <a:pt x="0" y="22650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812800" cy="60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4835789" y="5556090"/>
            <a:ext cx="6148305" cy="62074"/>
            <a:chOff x="0" y="0"/>
            <a:chExt cx="1619307" cy="163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19307" cy="16349"/>
            </a:xfrm>
            <a:custGeom>
              <a:avLst/>
              <a:gdLst/>
              <a:ahLst/>
              <a:cxnLst/>
              <a:rect r="r" b="b" t="t" l="l"/>
              <a:pathLst>
                <a:path h="16349" w="1619307">
                  <a:moveTo>
                    <a:pt x="0" y="0"/>
                  </a:moveTo>
                  <a:lnTo>
                    <a:pt x="1619307" y="0"/>
                  </a:lnTo>
                  <a:lnTo>
                    <a:pt x="1619307" y="16349"/>
                  </a:lnTo>
                  <a:lnTo>
                    <a:pt x="0" y="16349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19307" cy="544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885159" y="866775"/>
            <a:ext cx="8810937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INCREMENTO 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22595" y="3400304"/>
            <a:ext cx="6874127" cy="526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partir de los antecedentes obtenidos en el Documento 0, se definió el alcance del primer incremento.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Para esta iteración se seleccionaron los requerimientos de mayor prioridad asociados a: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Gestión de usuarios.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Seguridad y autenticación.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Roles y permisos.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Gestión de clientes.</a:t>
            </a:r>
          </a:p>
          <a:p>
            <a:pPr algn="l">
              <a:lnSpc>
                <a:spcPts val="3499"/>
              </a:lnSpc>
            </a:pP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7286"/>
            </a:stretch>
          </a:blipFill>
        </p:spPr>
      </p:sp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13892334" y="3675859"/>
          <a:ext cx="4258230" cy="2908532"/>
        </p:xfrm>
        <a:graphic>
          <a:graphicData uri="http://schemas.openxmlformats.org/drawingml/2006/table">
            <a:tbl>
              <a:tblPr/>
              <a:tblGrid>
                <a:gridCol w="2841872"/>
              </a:tblGrid>
              <a:tr h="111479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435"/>
                        </a:lnSpc>
                        <a:defRPr/>
                      </a:pPr>
                      <a:r>
                        <a:rPr lang="en-US" sz="173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20 Requerimientos implementados </a:t>
                      </a:r>
                      <a:endParaRPr lang="en-US" sz="1100"/>
                    </a:p>
                  </a:txBody>
                  <a:tcPr marL="165728" marR="165728" marT="165728" marB="165728" anchor="ctr">
                    <a:lnL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86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435"/>
                        </a:lnSpc>
                        <a:defRPr/>
                      </a:pPr>
                      <a:r>
                        <a:rPr lang="en-US" sz="173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73 Casos de uso desarrollados </a:t>
                      </a:r>
                      <a:endParaRPr lang="en-US" sz="1100"/>
                    </a:p>
                  </a:txBody>
                  <a:tcPr marL="165728" marR="165728" marT="165728" marB="165728" anchor="ctr">
                    <a:lnL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86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435"/>
                        </a:lnSpc>
                        <a:defRPr/>
                      </a:pPr>
                      <a:r>
                        <a:rPr lang="en-US" sz="173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30% del alcance total del proyecto </a:t>
                      </a:r>
                      <a:endParaRPr lang="en-US" sz="1100"/>
                    </a:p>
                  </a:txBody>
                  <a:tcPr marL="165728" marR="165728" marT="165728" marB="165728" anchor="ctr">
                    <a:lnL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8602576" y="3675859"/>
          <a:ext cx="3745649" cy="2049593"/>
        </p:xfrm>
        <a:graphic>
          <a:graphicData uri="http://schemas.openxmlformats.org/drawingml/2006/table">
            <a:tbl>
              <a:tblPr/>
              <a:tblGrid>
                <a:gridCol w="2196514"/>
              </a:tblGrid>
              <a:tr h="112020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435"/>
                        </a:lnSpc>
                        <a:defRPr/>
                      </a:pPr>
                      <a:r>
                        <a:rPr lang="en-US" sz="173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70 Requerimientos Funcionales</a:t>
                      </a:r>
                      <a:endParaRPr lang="en-US" sz="1100"/>
                    </a:p>
                  </a:txBody>
                  <a:tcPr marL="165728" marR="165728" marT="165728" marB="165728" anchor="ctr">
                    <a:lnL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93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435"/>
                        </a:lnSpc>
                        <a:defRPr/>
                      </a:pPr>
                      <a:r>
                        <a:rPr lang="en-US" sz="173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241 Casos de uso</a:t>
                      </a:r>
                      <a:endParaRPr lang="en-US" sz="1100"/>
                    </a:p>
                  </a:txBody>
                  <a:tcPr marL="165728" marR="165728" marT="165728" marB="165728" anchor="ctr">
                    <a:lnL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3146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14" id="14"/>
          <p:cNvSpPr/>
          <p:nvPr/>
        </p:nvSpPr>
        <p:spPr>
          <a:xfrm flipH="false" flipV="false" rot="0">
            <a:off x="12523144" y="4118910"/>
            <a:ext cx="1184890" cy="205875"/>
          </a:xfrm>
          <a:custGeom>
            <a:avLst/>
            <a:gdLst/>
            <a:ahLst/>
            <a:cxnLst/>
            <a:rect r="r" b="b" t="t" l="l"/>
            <a:pathLst>
              <a:path h="205875" w="1184890">
                <a:moveTo>
                  <a:pt x="0" y="0"/>
                </a:moveTo>
                <a:lnTo>
                  <a:pt x="1184890" y="0"/>
                </a:lnTo>
                <a:lnTo>
                  <a:pt x="1184890" y="205875"/>
                </a:lnTo>
                <a:lnTo>
                  <a:pt x="0" y="20587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2523144" y="5130125"/>
            <a:ext cx="1184890" cy="205875"/>
          </a:xfrm>
          <a:custGeom>
            <a:avLst/>
            <a:gdLst/>
            <a:ahLst/>
            <a:cxnLst/>
            <a:rect r="r" b="b" t="t" l="l"/>
            <a:pathLst>
              <a:path h="205875" w="1184890">
                <a:moveTo>
                  <a:pt x="0" y="0"/>
                </a:moveTo>
                <a:lnTo>
                  <a:pt x="1184890" y="0"/>
                </a:lnTo>
                <a:lnTo>
                  <a:pt x="1184890" y="205875"/>
                </a:lnTo>
                <a:lnTo>
                  <a:pt x="0" y="20587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047454" y="2924054"/>
            <a:ext cx="2823421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DOCUMENTO 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699570" y="2924054"/>
            <a:ext cx="2823421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INCREMENTO I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622555" y="6115091"/>
            <a:ext cx="5098788" cy="37438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133164"/>
            <a:ext cx="5222030" cy="152070"/>
            <a:chOff x="0" y="0"/>
            <a:chExt cx="1375350" cy="4005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75349" cy="40051"/>
            </a:xfrm>
            <a:custGeom>
              <a:avLst/>
              <a:gdLst/>
              <a:ahLst/>
              <a:cxnLst/>
              <a:rect r="r" b="b" t="t" l="l"/>
              <a:pathLst>
                <a:path h="40051" w="1375349">
                  <a:moveTo>
                    <a:pt x="0" y="0"/>
                  </a:moveTo>
                  <a:lnTo>
                    <a:pt x="1375349" y="0"/>
                  </a:lnTo>
                  <a:lnTo>
                    <a:pt x="1375349" y="40051"/>
                  </a:lnTo>
                  <a:lnTo>
                    <a:pt x="0" y="40051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75350" cy="781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664343" y="1215886"/>
            <a:ext cx="11122446" cy="7855227"/>
          </a:xfrm>
          <a:custGeom>
            <a:avLst/>
            <a:gdLst/>
            <a:ahLst/>
            <a:cxnLst/>
            <a:rect r="r" b="b" t="t" l="l"/>
            <a:pathLst>
              <a:path h="7855227" w="11122446">
                <a:moveTo>
                  <a:pt x="0" y="0"/>
                </a:moveTo>
                <a:lnTo>
                  <a:pt x="11122445" y="0"/>
                </a:lnTo>
                <a:lnTo>
                  <a:pt x="11122445" y="7855228"/>
                </a:lnTo>
                <a:lnTo>
                  <a:pt x="0" y="78552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728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847725"/>
            <a:ext cx="5913008" cy="2285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DISEÑO BASE DE DATOS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563084"/>
            <a:ext cx="1782068" cy="282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1293" indent="-175647" lvl="1">
              <a:lnSpc>
                <a:spcPts val="2277"/>
              </a:lnSpc>
              <a:buFont typeface="Arial"/>
              <a:buChar char="•"/>
            </a:pPr>
            <a:r>
              <a:rPr lang="en-US" sz="162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Modelo Físico.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332569">
            <a:off x="16780920" y="8849597"/>
            <a:ext cx="438102" cy="510163"/>
          </a:xfrm>
          <a:custGeom>
            <a:avLst/>
            <a:gdLst/>
            <a:ahLst/>
            <a:cxnLst/>
            <a:rect r="r" b="b" t="t" l="l"/>
            <a:pathLst>
              <a:path h="510163" w="438102">
                <a:moveTo>
                  <a:pt x="0" y="0"/>
                </a:moveTo>
                <a:lnTo>
                  <a:pt x="438102" y="0"/>
                </a:lnTo>
                <a:lnTo>
                  <a:pt x="438102" y="510162"/>
                </a:lnTo>
                <a:lnTo>
                  <a:pt x="0" y="5101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053658" y="1172770"/>
            <a:ext cx="9176844" cy="8155920"/>
          </a:xfrm>
          <a:custGeom>
            <a:avLst/>
            <a:gdLst/>
            <a:ahLst/>
            <a:cxnLst/>
            <a:rect r="r" b="b" t="t" l="l"/>
            <a:pathLst>
              <a:path h="8155920" w="9176844">
                <a:moveTo>
                  <a:pt x="0" y="0"/>
                </a:moveTo>
                <a:lnTo>
                  <a:pt x="9176844" y="0"/>
                </a:lnTo>
                <a:lnTo>
                  <a:pt x="9176844" y="8155920"/>
                </a:lnTo>
                <a:lnTo>
                  <a:pt x="0" y="81559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847725"/>
            <a:ext cx="5246391" cy="2285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DISEÑO DE SOFTWARE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389901"/>
            <a:ext cx="3220455" cy="282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1293" indent="-175647" lvl="1">
              <a:lnSpc>
                <a:spcPts val="2277"/>
              </a:lnSpc>
              <a:buFont typeface="Arial"/>
              <a:buChar char="•"/>
            </a:pPr>
            <a:r>
              <a:rPr lang="en-US" sz="162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Diagrama de componentes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3133164"/>
            <a:ext cx="5222030" cy="152070"/>
            <a:chOff x="0" y="0"/>
            <a:chExt cx="1375350" cy="4005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75349" cy="40051"/>
            </a:xfrm>
            <a:custGeom>
              <a:avLst/>
              <a:gdLst/>
              <a:ahLst/>
              <a:cxnLst/>
              <a:rect r="r" b="b" t="t" l="l"/>
              <a:pathLst>
                <a:path h="40051" w="1375349">
                  <a:moveTo>
                    <a:pt x="0" y="0"/>
                  </a:moveTo>
                  <a:lnTo>
                    <a:pt x="1375349" y="0"/>
                  </a:lnTo>
                  <a:lnTo>
                    <a:pt x="1375349" y="40051"/>
                  </a:lnTo>
                  <a:lnTo>
                    <a:pt x="0" y="40051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375350" cy="781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7286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35188" y="-957361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7" y="0"/>
                </a:lnTo>
                <a:lnTo>
                  <a:pt x="412981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3133164"/>
            <a:ext cx="5222030" cy="152070"/>
            <a:chOff x="0" y="0"/>
            <a:chExt cx="1375350" cy="4005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75349" cy="40051"/>
            </a:xfrm>
            <a:custGeom>
              <a:avLst/>
              <a:gdLst/>
              <a:ahLst/>
              <a:cxnLst/>
              <a:rect r="r" b="b" t="t" l="l"/>
              <a:pathLst>
                <a:path h="40051" w="1375349">
                  <a:moveTo>
                    <a:pt x="0" y="0"/>
                  </a:moveTo>
                  <a:lnTo>
                    <a:pt x="1375349" y="0"/>
                  </a:lnTo>
                  <a:lnTo>
                    <a:pt x="1375349" y="40051"/>
                  </a:lnTo>
                  <a:lnTo>
                    <a:pt x="0" y="40051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375350" cy="781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7555379" y="1153650"/>
            <a:ext cx="8142551" cy="7979700"/>
          </a:xfrm>
          <a:custGeom>
            <a:avLst/>
            <a:gdLst/>
            <a:ahLst/>
            <a:cxnLst/>
            <a:rect r="r" b="b" t="t" l="l"/>
            <a:pathLst>
              <a:path h="7979700" w="8142551">
                <a:moveTo>
                  <a:pt x="0" y="0"/>
                </a:moveTo>
                <a:lnTo>
                  <a:pt x="8142552" y="0"/>
                </a:lnTo>
                <a:lnTo>
                  <a:pt x="8142552" y="7979700"/>
                </a:lnTo>
                <a:lnTo>
                  <a:pt x="0" y="7979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847725"/>
            <a:ext cx="5246391" cy="2285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DISEÑO DE SOFTWARE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397227"/>
            <a:ext cx="5222030" cy="282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1293" indent="-175647" lvl="1">
              <a:lnSpc>
                <a:spcPts val="2277"/>
              </a:lnSpc>
              <a:buFont typeface="Arial"/>
              <a:buChar char="•"/>
            </a:pPr>
            <a:r>
              <a:rPr lang="en-US" sz="162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Diagrama de despliegue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7286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13708" y="1877060"/>
            <a:ext cx="5060585" cy="161925"/>
            <a:chOff x="0" y="0"/>
            <a:chExt cx="1332829" cy="426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32829" cy="42647"/>
            </a:xfrm>
            <a:custGeom>
              <a:avLst/>
              <a:gdLst/>
              <a:ahLst/>
              <a:cxnLst/>
              <a:rect r="r" b="b" t="t" l="l"/>
              <a:pathLst>
                <a:path h="42647" w="1332829">
                  <a:moveTo>
                    <a:pt x="0" y="0"/>
                  </a:moveTo>
                  <a:lnTo>
                    <a:pt x="1332829" y="0"/>
                  </a:lnTo>
                  <a:lnTo>
                    <a:pt x="1332829" y="42647"/>
                  </a:lnTo>
                  <a:lnTo>
                    <a:pt x="0" y="42647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32829" cy="807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6746978" y="866775"/>
            <a:ext cx="4794045" cy="1010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TRAZABILIDAD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285437" y="2475637"/>
            <a:ext cx="9979206" cy="107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Requerimiento Funcional N°0</a:t>
            </a: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</a:p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El sistema deberá permitir la actualización del estado de las órdenes de trabajo durante su ejecución permitiendo ver el avance mediante estados como pendiente, en curso y finalizado. </a:t>
            </a:r>
          </a:p>
          <a:p>
            <a:pPr algn="l">
              <a:lnSpc>
                <a:spcPts val="210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28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8100000">
            <a:off x="3751653" y="4001428"/>
            <a:ext cx="1590003" cy="276263"/>
          </a:xfrm>
          <a:custGeom>
            <a:avLst/>
            <a:gdLst/>
            <a:ahLst/>
            <a:cxnLst/>
            <a:rect r="r" b="b" t="t" l="l"/>
            <a:pathLst>
              <a:path h="276263" w="1590003">
                <a:moveTo>
                  <a:pt x="0" y="0"/>
                </a:moveTo>
                <a:lnTo>
                  <a:pt x="1590003" y="0"/>
                </a:lnTo>
                <a:lnTo>
                  <a:pt x="1590003" y="276263"/>
                </a:lnTo>
                <a:lnTo>
                  <a:pt x="0" y="2762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251259" y="4973158"/>
            <a:ext cx="3139882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Casos de uso N°22: Actualizando estado de orden de trabajo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137353" y="4973158"/>
            <a:ext cx="3465299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Casos de uso N°23: Asignado automatico de estado “pendiente”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348865" y="4973158"/>
            <a:ext cx="3831557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Casos de uso N°24: Notificando cambio de estado de la orden de trabajo 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2834796">
            <a:off x="12087229" y="3937249"/>
            <a:ext cx="1543475" cy="268179"/>
          </a:xfrm>
          <a:custGeom>
            <a:avLst/>
            <a:gdLst/>
            <a:ahLst/>
            <a:cxnLst/>
            <a:rect r="r" b="b" t="t" l="l"/>
            <a:pathLst>
              <a:path h="268179" w="1543475">
                <a:moveTo>
                  <a:pt x="0" y="0"/>
                </a:moveTo>
                <a:lnTo>
                  <a:pt x="1543475" y="0"/>
                </a:lnTo>
                <a:lnTo>
                  <a:pt x="1543475" y="268179"/>
                </a:lnTo>
                <a:lnTo>
                  <a:pt x="0" y="26817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5400000">
            <a:off x="8061724" y="4060317"/>
            <a:ext cx="1319649" cy="229289"/>
          </a:xfrm>
          <a:custGeom>
            <a:avLst/>
            <a:gdLst/>
            <a:ahLst/>
            <a:cxnLst/>
            <a:rect r="r" b="b" t="t" l="l"/>
            <a:pathLst>
              <a:path h="229289" w="1319649">
                <a:moveTo>
                  <a:pt x="0" y="0"/>
                </a:moveTo>
                <a:lnTo>
                  <a:pt x="1319649" y="0"/>
                </a:lnTo>
                <a:lnTo>
                  <a:pt x="1319649" y="229289"/>
                </a:lnTo>
                <a:lnTo>
                  <a:pt x="0" y="229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5400000">
            <a:off x="3144274" y="5893411"/>
            <a:ext cx="679569" cy="118075"/>
          </a:xfrm>
          <a:custGeom>
            <a:avLst/>
            <a:gdLst/>
            <a:ahLst/>
            <a:cxnLst/>
            <a:rect r="r" b="b" t="t" l="l"/>
            <a:pathLst>
              <a:path h="118075" w="679569">
                <a:moveTo>
                  <a:pt x="0" y="0"/>
                </a:moveTo>
                <a:lnTo>
                  <a:pt x="679569" y="0"/>
                </a:lnTo>
                <a:lnTo>
                  <a:pt x="679569" y="118075"/>
                </a:lnTo>
                <a:lnTo>
                  <a:pt x="0" y="1180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5400000">
            <a:off x="13865821" y="5987330"/>
            <a:ext cx="679569" cy="118075"/>
          </a:xfrm>
          <a:custGeom>
            <a:avLst/>
            <a:gdLst/>
            <a:ahLst/>
            <a:cxnLst/>
            <a:rect r="r" b="b" t="t" l="l"/>
            <a:pathLst>
              <a:path h="118075" w="679569">
                <a:moveTo>
                  <a:pt x="0" y="0"/>
                </a:moveTo>
                <a:lnTo>
                  <a:pt x="679569" y="0"/>
                </a:lnTo>
                <a:lnTo>
                  <a:pt x="679569" y="118075"/>
                </a:lnTo>
                <a:lnTo>
                  <a:pt x="0" y="1180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5400000">
            <a:off x="8381764" y="5987330"/>
            <a:ext cx="679569" cy="118075"/>
          </a:xfrm>
          <a:custGeom>
            <a:avLst/>
            <a:gdLst/>
            <a:ahLst/>
            <a:cxnLst/>
            <a:rect r="r" b="b" t="t" l="l"/>
            <a:pathLst>
              <a:path h="118075" w="679569">
                <a:moveTo>
                  <a:pt x="0" y="0"/>
                </a:moveTo>
                <a:lnTo>
                  <a:pt x="679569" y="0"/>
                </a:lnTo>
                <a:lnTo>
                  <a:pt x="679569" y="118075"/>
                </a:lnTo>
                <a:lnTo>
                  <a:pt x="0" y="1180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178693" y="6511308"/>
            <a:ext cx="2728805" cy="3254112"/>
          </a:xfrm>
          <a:custGeom>
            <a:avLst/>
            <a:gdLst/>
            <a:ahLst/>
            <a:cxnLst/>
            <a:rect r="r" b="b" t="t" l="l"/>
            <a:pathLst>
              <a:path h="3254112" w="2728805">
                <a:moveTo>
                  <a:pt x="0" y="0"/>
                </a:moveTo>
                <a:lnTo>
                  <a:pt x="2728806" y="0"/>
                </a:lnTo>
                <a:lnTo>
                  <a:pt x="2728806" y="3254112"/>
                </a:lnTo>
                <a:lnTo>
                  <a:pt x="0" y="32541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7697752" y="6511308"/>
            <a:ext cx="2537690" cy="3254112"/>
          </a:xfrm>
          <a:custGeom>
            <a:avLst/>
            <a:gdLst/>
            <a:ahLst/>
            <a:cxnLst/>
            <a:rect r="r" b="b" t="t" l="l"/>
            <a:pathLst>
              <a:path h="3254112" w="2537690">
                <a:moveTo>
                  <a:pt x="0" y="0"/>
                </a:moveTo>
                <a:lnTo>
                  <a:pt x="2537689" y="0"/>
                </a:lnTo>
                <a:lnTo>
                  <a:pt x="2537689" y="3254112"/>
                </a:lnTo>
                <a:lnTo>
                  <a:pt x="0" y="32541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949916" y="6511308"/>
            <a:ext cx="2781131" cy="3254112"/>
          </a:xfrm>
          <a:custGeom>
            <a:avLst/>
            <a:gdLst/>
            <a:ahLst/>
            <a:cxnLst/>
            <a:rect r="r" b="b" t="t" l="l"/>
            <a:pathLst>
              <a:path h="3254112" w="2781131">
                <a:moveTo>
                  <a:pt x="0" y="0"/>
                </a:moveTo>
                <a:lnTo>
                  <a:pt x="2781131" y="0"/>
                </a:lnTo>
                <a:lnTo>
                  <a:pt x="2781131" y="3254112"/>
                </a:lnTo>
                <a:lnTo>
                  <a:pt x="0" y="32541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505290"/>
            <a:ext cx="5662881" cy="6753010"/>
          </a:xfrm>
          <a:custGeom>
            <a:avLst/>
            <a:gdLst/>
            <a:ahLst/>
            <a:cxnLst/>
            <a:rect r="r" b="b" t="t" l="l"/>
            <a:pathLst>
              <a:path h="6753010" w="5662881">
                <a:moveTo>
                  <a:pt x="0" y="0"/>
                </a:moveTo>
                <a:lnTo>
                  <a:pt x="5662881" y="0"/>
                </a:lnTo>
                <a:lnTo>
                  <a:pt x="5662881" y="6753010"/>
                </a:lnTo>
                <a:lnTo>
                  <a:pt x="0" y="67530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44000" y="2505290"/>
            <a:ext cx="7144502" cy="5661681"/>
          </a:xfrm>
          <a:custGeom>
            <a:avLst/>
            <a:gdLst/>
            <a:ahLst/>
            <a:cxnLst/>
            <a:rect r="r" b="b" t="t" l="l"/>
            <a:pathLst>
              <a:path h="5661681" w="7144502">
                <a:moveTo>
                  <a:pt x="0" y="0"/>
                </a:moveTo>
                <a:lnTo>
                  <a:pt x="7144502" y="0"/>
                </a:lnTo>
                <a:lnTo>
                  <a:pt x="7144502" y="5661681"/>
                </a:lnTo>
                <a:lnTo>
                  <a:pt x="0" y="56616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541808" y="415334"/>
            <a:ext cx="8092449" cy="1244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99"/>
              </a:lnSpc>
              <a:spcBef>
                <a:spcPct val="0"/>
              </a:spcBef>
            </a:pPr>
            <a:r>
              <a:rPr lang="en-US" sz="3499" strike="noStrike" u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CASOS DE USO N°22: ACTUALIZANDO ESTADO DE ORDEN DE TRABAJO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314086" y="2007167"/>
            <a:ext cx="3092109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Tabla caso de uso N°22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457098"/>
            <a:ext cx="4439539" cy="161925"/>
            <a:chOff x="0" y="0"/>
            <a:chExt cx="1169261" cy="426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9261" cy="42647"/>
            </a:xfrm>
            <a:custGeom>
              <a:avLst/>
              <a:gdLst/>
              <a:ahLst/>
              <a:cxnLst/>
              <a:rect r="r" b="b" t="t" l="l"/>
              <a:pathLst>
                <a:path h="42647" w="1169261">
                  <a:moveTo>
                    <a:pt x="0" y="0"/>
                  </a:moveTo>
                  <a:lnTo>
                    <a:pt x="1169261" y="0"/>
                  </a:lnTo>
                  <a:lnTo>
                    <a:pt x="1169261" y="42647"/>
                  </a:lnTo>
                  <a:lnTo>
                    <a:pt x="0" y="42647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9261" cy="807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286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269048" y="1377393"/>
            <a:ext cx="9432327" cy="6372487"/>
          </a:xfrm>
          <a:custGeom>
            <a:avLst/>
            <a:gdLst/>
            <a:ahLst/>
            <a:cxnLst/>
            <a:rect r="r" b="b" t="t" l="l"/>
            <a:pathLst>
              <a:path h="6372487" w="9432327">
                <a:moveTo>
                  <a:pt x="0" y="0"/>
                </a:moveTo>
                <a:lnTo>
                  <a:pt x="9432327" y="0"/>
                </a:lnTo>
                <a:lnTo>
                  <a:pt x="9432327" y="6372487"/>
                </a:lnTo>
                <a:lnTo>
                  <a:pt x="0" y="63724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866775"/>
            <a:ext cx="6657181" cy="20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CASOS DE USO RELEVANTES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888826"/>
            <a:ext cx="7101632" cy="568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1293" indent="-175647" lvl="1">
              <a:lnSpc>
                <a:spcPts val="2277"/>
              </a:lnSpc>
              <a:buFont typeface="Arial"/>
              <a:buChar char="•"/>
            </a:pPr>
            <a:r>
              <a:rPr lang="en-US" sz="162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Caso de Uso: Actualizando estado de orden de trabajo(CU22-DS)</a:t>
            </a:r>
          </a:p>
          <a:p>
            <a:pPr algn="l">
              <a:lnSpc>
                <a:spcPts val="2277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401976" y="339395"/>
            <a:ext cx="2093405" cy="4114800"/>
          </a:xfrm>
          <a:custGeom>
            <a:avLst/>
            <a:gdLst/>
            <a:ahLst/>
            <a:cxnLst/>
            <a:rect r="r" b="b" t="t" l="l"/>
            <a:pathLst>
              <a:path h="4114800" w="2093405">
                <a:moveTo>
                  <a:pt x="0" y="0"/>
                </a:moveTo>
                <a:lnTo>
                  <a:pt x="2093404" y="0"/>
                </a:lnTo>
                <a:lnTo>
                  <a:pt x="20934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790575"/>
            <a:ext cx="7194349" cy="14541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CONCLUSIÓN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912253" y="2813625"/>
            <a:ext cx="7629293" cy="3143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7681" indent="-323840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 implementó el 30% de los requerimientos funcionales y se definió la arquitectura del sistema, estableciendo una base sólida para el desarrollo de las funcionalidades restantes del proyecto.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263149" y="5956878"/>
            <a:ext cx="2093405" cy="4114800"/>
          </a:xfrm>
          <a:custGeom>
            <a:avLst/>
            <a:gdLst/>
            <a:ahLst/>
            <a:cxnLst/>
            <a:rect r="r" b="b" t="t" l="l"/>
            <a:pathLst>
              <a:path h="4114800" w="2093405">
                <a:moveTo>
                  <a:pt x="0" y="0"/>
                </a:moveTo>
                <a:lnTo>
                  <a:pt x="2093404" y="0"/>
                </a:lnTo>
                <a:lnTo>
                  <a:pt x="209340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956146" y="3648527"/>
            <a:ext cx="9297887" cy="6849111"/>
          </a:xfrm>
          <a:prstGeom prst="rect">
            <a:avLst/>
          </a:prstGeom>
        </p:spPr>
      </p:pic>
      <p:grpSp>
        <p:nvGrpSpPr>
          <p:cNvPr name="Group 7" id="7"/>
          <p:cNvGrpSpPr/>
          <p:nvPr/>
        </p:nvGrpSpPr>
        <p:grpSpPr>
          <a:xfrm rot="0">
            <a:off x="1121065" y="2244724"/>
            <a:ext cx="6238040" cy="152070"/>
            <a:chOff x="0" y="0"/>
            <a:chExt cx="1642941" cy="4005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42941" cy="40051"/>
            </a:xfrm>
            <a:custGeom>
              <a:avLst/>
              <a:gdLst/>
              <a:ahLst/>
              <a:cxnLst/>
              <a:rect r="r" b="b" t="t" l="l"/>
              <a:pathLst>
                <a:path h="40051" w="1642941">
                  <a:moveTo>
                    <a:pt x="0" y="0"/>
                  </a:moveTo>
                  <a:lnTo>
                    <a:pt x="1642941" y="0"/>
                  </a:lnTo>
                  <a:lnTo>
                    <a:pt x="1642941" y="40051"/>
                  </a:lnTo>
                  <a:lnTo>
                    <a:pt x="0" y="40051"/>
                  </a:lnTo>
                  <a:close/>
                </a:path>
              </a:pathLst>
            </a:custGeom>
            <a:solidFill>
              <a:srgbClr val="ACA18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642941" cy="781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77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6111280" y="8581072"/>
            <a:ext cx="2176720" cy="1705928"/>
          </a:xfrm>
          <a:custGeom>
            <a:avLst/>
            <a:gdLst/>
            <a:ahLst/>
            <a:cxnLst/>
            <a:rect r="r" b="b" t="t" l="l"/>
            <a:pathLst>
              <a:path h="1705928" w="2176720">
                <a:moveTo>
                  <a:pt x="0" y="0"/>
                </a:moveTo>
                <a:lnTo>
                  <a:pt x="2176720" y="0"/>
                </a:lnTo>
                <a:lnTo>
                  <a:pt x="2176720" y="1705928"/>
                </a:lnTo>
                <a:lnTo>
                  <a:pt x="0" y="17059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7286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807588" y="4905375"/>
            <a:ext cx="12672824" cy="1454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¡MUCHAS GRACIAS!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7218693" y="1223652"/>
            <a:ext cx="3850613" cy="3017782"/>
          </a:xfrm>
          <a:custGeom>
            <a:avLst/>
            <a:gdLst/>
            <a:ahLst/>
            <a:cxnLst/>
            <a:rect r="r" b="b" t="t" l="l"/>
            <a:pathLst>
              <a:path h="3017782" w="3850613">
                <a:moveTo>
                  <a:pt x="0" y="0"/>
                </a:moveTo>
                <a:lnTo>
                  <a:pt x="3850614" y="0"/>
                </a:lnTo>
                <a:lnTo>
                  <a:pt x="3850614" y="3017782"/>
                </a:lnTo>
                <a:lnTo>
                  <a:pt x="0" y="30177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286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DAHMmjWFHN8</dc:identifier>
  <dcterms:modified xsi:type="dcterms:W3CDTF">2011-08-01T06:04:30Z</dcterms:modified>
  <cp:revision>1</cp:revision>
  <dc:title>Presentación Grupo 21</dc:title>
</cp:coreProperties>
</file>